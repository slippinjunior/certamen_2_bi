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8273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al equipo y el objetivo de la fase: dejar construida la base de la solución BI (KPI, modelo dimensional en SQL Server y ETL en SSIS validado). El cubo OLAP y Power BI quedan para las fases siguientes.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caso: la empresa quiere incorporar BI. La fase 1 construye los cimientos: KPI, modelo dimensional y ETL. Fase 2: cubo OLAP; Fase 3: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restauró el backup y se perfiló cada tabla. Cada venta tiene hoy una sola línea de detalle; 6 de los 15 empleados venden. Todos los clientes y productos registran ventas.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perfilamiento no encontró errores de integridad, pero sí atributos vacíos, códigos y textos sin estandarizar. Todo se trata en SSIS con Derived Columns y Lookups.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KPI responde a una decisión concreta. La línea base 2017 sale de sql/05_consultas_kpi.sql sobre el modelo ya cargado. Estos KPI guían el diseño del modelo y luego el cubo.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Proceso: ventas. Grano: línea de detalle de venta; aunque hoy hay una línea por venta, el modelo soporta varias. Dimensiones con claves subrogadas y miembro -1; VentaID y NumeroDocumento como dimensiones degeneradas.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eligió estrella y no copo de nieve porque los catálogos son pequeños y no se comparten entre dimensiones. Claves subrogadas IDENTITY, DimTiempo con clave AAAAMMDD, FK desde el hecho e índice único sobre el grano (VentaID, ProductoID).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medidas aditivas se pueden sumar por cualquier dimensión. Ticket promedio, número de ventas y porcentajes se calcularán en el cubo (Fase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Proyecto ETL_Albarran en Visual Studio. Conexiones OLE DB a Albarran (origen) y Albarran_DW (destino). Carga completa: se vacía el DW en cada ejecución.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Row Count alimentan las variables FilasLeidas, FilasCargadas y FilasRechazadas que se guardan en EtlLog.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5 dimensiones se cargan en paralelo dentro de un Sequence Container. DimTiempo se genera con un procedimiento almacenado.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en vivo: resultado del paquete en verde, la tabla EtlLog y el script de validación. El paquete además tiene una tarea que lanza un error si filas o montos no cuadran.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resultados salen de sql/05_consultas_kpi.sql. Sirven de línea base para el cubo OLAP y el dashboard de las próximas fases.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 demo: paquete en verde, consultas de validación y KPI. Mencionar que el repositorio contiene README, scripts, diagrama, proyecto SSIS y 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63321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72A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71041"/>
            <a:ext cx="10566400" cy="4074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7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63321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72A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71041"/>
            <a:ext cx="10566400" cy="4074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7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E7D6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7FC4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CASO SEMESTRAL · INTELIGENCIA DE NEGOCIOS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260350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7F6F2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Mueblería Albarrán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12800" y="3606800"/>
            <a:ext cx="1088339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200" dirty="0">
                <a:solidFill>
                  <a:srgbClr val="C9D6D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Fase 1 · Modelo dimensional y proceso ETL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2800" y="5511800"/>
            <a:ext cx="371124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C9D6D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Ivan Papic · Alberto Aguilera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 err="1">
                <a:solidFill>
                  <a:srgbClr val="C9D6D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Paralelo</a:t>
            </a:r>
            <a:r>
              <a:rPr lang="en-US" sz="1400" dirty="0">
                <a:solidFill>
                  <a:srgbClr val="C9D6D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300 · </a:t>
            </a:r>
            <a:r>
              <a:rPr lang="en-US" sz="1400" dirty="0" err="1">
                <a:solidFill>
                  <a:srgbClr val="C9D6D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Profesor</a:t>
            </a:r>
            <a:r>
              <a:rPr lang="en-US" sz="1400" dirty="0">
                <a:solidFill>
                  <a:srgbClr val="C9D6D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Hernan Saavedra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83766" y="5796280"/>
            <a:ext cx="30954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dirty="0">
                <a:solidFill>
                  <a:srgbClr val="7FC4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Server · SSIS · Visual Studio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50" dirty="0">
                <a:solidFill>
                  <a:srgbClr val="2E7D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CONTEXTO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63320"/>
            <a:ext cx="10883392" cy="1031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72A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Una mueblería que creció rápido y necesita decidir con datos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527935"/>
            <a:ext cx="3380264" cy="1918970"/>
          </a:xfrm>
          <a:prstGeom prst="roundRect">
            <a:avLst>
              <a:gd name="adj" fmla="val 5129"/>
            </a:avLst>
          </a:prstGeom>
          <a:solidFill>
            <a:srgbClr val="FFFFFF"/>
          </a:solidFill>
          <a:ln w="635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1071880" y="2783840"/>
            <a:ext cx="295450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Situación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1880" y="3159760"/>
            <a:ext cx="2954507" cy="1056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sucursales (Viña del Mar, Manquehue, Franklin) y una base transaccional con ventas, clientes, empleados y productos.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5789" y="2527935"/>
            <a:ext cx="3380343" cy="1918970"/>
          </a:xfrm>
          <a:prstGeom prst="roundRect">
            <a:avLst>
              <a:gd name="adj" fmla="val 5129"/>
            </a:avLst>
          </a:prstGeom>
          <a:solidFill>
            <a:srgbClr val="FFFFFF"/>
          </a:solidFill>
          <a:ln w="635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4661694" y="2783840"/>
            <a:ext cx="295458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61694" y="3159760"/>
            <a:ext cx="2954589" cy="1056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base está optimizada para registrar operaciones, no para analizarlas: no hay indicadores ni visión consolidada.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95682" y="2527935"/>
            <a:ext cx="3380343" cy="1918970"/>
          </a:xfrm>
          <a:prstGeom prst="roundRect">
            <a:avLst>
              <a:gd name="adj" fmla="val 5129"/>
            </a:avLst>
          </a:prstGeom>
          <a:solidFill>
            <a:srgbClr val="FFFFFF"/>
          </a:solidFill>
          <a:ln w="635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8251587" y="2783840"/>
            <a:ext cx="295458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Objetivo Fase 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51587" y="3159760"/>
            <a:ext cx="2954589" cy="1056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Definir KPI, diseñar el modelo dimensional en SQL Server y cargarlo con un ETL en SSIS validado.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A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Mueblería Albarrán · BI Fase 1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50" dirty="0">
                <a:solidFill>
                  <a:srgbClr val="2E7D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ANÁLISIS DE LA BASE TRANSACCIONAL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6332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72A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9 tablas, un año de ventas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71041"/>
            <a:ext cx="366268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2E7D6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365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12800" y="2606041"/>
            <a:ext cx="366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ventas entre el 01-01 y el 31-12-2017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3058161"/>
            <a:ext cx="366268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2E7D6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$414 MM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12800" y="3693161"/>
            <a:ext cx="366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vendidos (724 unidades, IVA incluido)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85360" y="1981201"/>
          <a:ext cx="6593840" cy="2498090"/>
        </p:xfrm>
        <a:graphic>
          <a:graphicData uri="http://schemas.openxmlformats.org/drawingml/2006/table">
            <a:tbl>
              <a:tblPr/>
              <a:tblGrid>
                <a:gridCol w="22419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50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6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Tabla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Filas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Rol en el modelo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ventas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365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Hecho (encabezado)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detalle_ventas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365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Hecho (grano)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clientes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DimCliente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empleados + cargos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15 + 5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DimEmpleado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productos + categorias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 + 13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DimProducto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sucursales + comunas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 + 3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DimSucursal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A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Fuente: Albarran.bak (SQL Server 2017)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EF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50" dirty="0">
                <a:solidFill>
                  <a:srgbClr val="1F6B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CALIDAD DE DATOS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63320"/>
            <a:ext cx="10883392" cy="1031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72A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Datos íntegros, pero poco legibles para el análisis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484121"/>
          <a:ext cx="10556240" cy="2854960"/>
        </p:xfrm>
        <a:graphic>
          <a:graphicData uri="http://schemas.openxmlformats.org/drawingml/2006/table">
            <a:tbl>
              <a:tblPr/>
              <a:tblGrid>
                <a:gridCol w="4855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00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Hallazgo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1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1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D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Tratamiento en el ETL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AEB1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1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1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D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descripcion de productos: 100 % NULL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1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"Sin descripción"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1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descuento = 0 en todas las ventas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 conserva y normaliza (% → fracción)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Códigos y minúsculas (M/F, casado, boleta)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Decodificar y capitalizar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Sin región ni segmentos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Derivar Región, Rango etario, Rango de precio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datetime sin hora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Convertir a date y enlazar a DimTiempo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Sin nulos en FK ni huérfanos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Igual: Lookups + miembro desconocido (-1)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hay costo de productos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Limitación: no se puede medir margen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B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Mueblería Albarrán · BI Fase 1 ·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50" dirty="0">
                <a:solidFill>
                  <a:srgbClr val="2E7D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INDICADORES CLAVE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6332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72A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10 KPI para decidir sobre ventas, locales y equipo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1"/>
          <a:ext cx="10556239" cy="3632200"/>
        </p:xfrm>
        <a:graphic>
          <a:graphicData uri="http://schemas.openxmlformats.org/drawingml/2006/table">
            <a:tbl>
              <a:tblPr/>
              <a:tblGrid>
                <a:gridCol w="3272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91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46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KPI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Para qué sirve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 2017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Ventas y crecimiento mensual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Tendencia y estacionalidad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$414,0 MM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Ticket promedio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Valor de cada compra; upselling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$1.134.308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Participación por sucursal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Inversión y metas por local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Manquehue 36,1 %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Mix por categoría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Líneas que sostienen el negocio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Comedores 28,8 %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Ranking de productos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Surtido y compras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Living MJO $41,6 MM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Productividad del vendedor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Ventas / costo del sueldo; incentivos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15,8x – 25,2x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% ventas con factura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Peso del segmento empresas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16,2 %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Ventas por segmento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Marketing por sexo, edad, estado civil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Hombres 68,7 %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Frecuencia de compra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Fidelización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18,3 compras/cliente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Descuento promedio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Control de política comercial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0 %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A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Valores calculados sobre los datos cargados ·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50" dirty="0">
                <a:solidFill>
                  <a:srgbClr val="2E7D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METODOLOGÍA DE KIMBALL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6332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72A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Cuatro decisiones definen el modelo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25014"/>
            <a:ext cx="2520950" cy="2188210"/>
          </a:xfrm>
          <a:prstGeom prst="roundRect">
            <a:avLst>
              <a:gd name="adj" fmla="val 3337"/>
            </a:avLst>
          </a:prstGeom>
          <a:solidFill>
            <a:srgbClr val="FFFFFF"/>
          </a:solidFill>
          <a:ln w="635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1046480" y="2255521"/>
            <a:ext cx="21217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2E7D6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46480" y="2712721"/>
            <a:ext cx="212173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46480" y="3058161"/>
            <a:ext cx="2121738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Ventas</a:t>
            </a: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proceso central y único con transacciones completas; responde a todos los KPI.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95675" y="2025014"/>
            <a:ext cx="2520950" cy="2188210"/>
          </a:xfrm>
          <a:prstGeom prst="roundRect">
            <a:avLst>
              <a:gd name="adj" fmla="val 3337"/>
            </a:avLst>
          </a:prstGeom>
          <a:solidFill>
            <a:srgbClr val="FFFFFF"/>
          </a:solidFill>
          <a:ln w="635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3726180" y="2255521"/>
            <a:ext cx="21217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2E7D6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26180" y="2712721"/>
            <a:ext cx="212173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Granularidad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26180" y="3058161"/>
            <a:ext cx="2121738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producto en una venta</a:t>
            </a: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(línea de detalle): el nivel más atómico disponible.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5375" y="2025014"/>
            <a:ext cx="2520950" cy="2188210"/>
          </a:xfrm>
          <a:prstGeom prst="roundRect">
            <a:avLst>
              <a:gd name="adj" fmla="val 3337"/>
            </a:avLst>
          </a:prstGeom>
          <a:solidFill>
            <a:srgbClr val="FFFFFF"/>
          </a:solidFill>
          <a:ln w="635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6405880" y="2255521"/>
            <a:ext cx="21217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2E7D6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05880" y="2712721"/>
            <a:ext cx="212173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Dimensiones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5880" y="3058161"/>
            <a:ext cx="2121738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Tiempo, Cliente, Empleado, Producto, Sucursal y Tipo de documento.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55075" y="2025014"/>
            <a:ext cx="2520950" cy="2188210"/>
          </a:xfrm>
          <a:prstGeom prst="roundRect">
            <a:avLst>
              <a:gd name="adj" fmla="val 3337"/>
            </a:avLst>
          </a:prstGeom>
          <a:solidFill>
            <a:srgbClr val="FFFFFF"/>
          </a:solidFill>
          <a:ln w="635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9085580" y="2255521"/>
            <a:ext cx="21217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2E7D6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085580" y="2712721"/>
            <a:ext cx="212173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Hechos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85580" y="3058161"/>
            <a:ext cx="2121738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FactVentas</a:t>
            </a: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cantidad, montos bruto, descuento, total, neto e IVA.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A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Mueblería Albarrán · BI Fase 1 ·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59611"/>
            <a:ext cx="366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50" dirty="0">
                <a:solidFill>
                  <a:srgbClr val="2E7D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MODELO DIMENSIONAL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386332"/>
            <a:ext cx="366268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72A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Esquema estrella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3011171"/>
            <a:ext cx="3662680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Categoría, comuna/región y cargo se desnormalizan en su dimensión.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98144" y="3704589"/>
            <a:ext cx="356971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8656" indent="-168656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Catálogos de 3 a 13 filas: redundancia mínima</a:t>
            </a:r>
            <a:endParaRPr lang="en-US" sz="1300" dirty="0"/>
          </a:p>
          <a:p>
            <a:pPr marL="168656" indent="-168656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Menos joins: consultas y cubo más rápidos</a:t>
            </a:r>
            <a:endParaRPr lang="en-US" sz="1300" dirty="0"/>
          </a:p>
          <a:p>
            <a:pPr marL="168656" indent="-168656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Más simple para usuarios y Power BI</a:t>
            </a:r>
            <a:endParaRPr lang="en-US" sz="1300" dirty="0"/>
          </a:p>
        </p:txBody>
      </p:sp>
      <p:pic>
        <p:nvPicPr>
          <p:cNvPr id="6" name="Image 0" descr="Diagrama del modelo estrella: FactVentas al centro rodeada por DimTiempo, DimCliente, DimEmpleado, DimProducto, DimSucursal y DimTipoDocumento"/>
          <p:cNvPicPr>
            <a:picLocks noChangeAspect="1"/>
          </p:cNvPicPr>
          <p:nvPr/>
        </p:nvPicPr>
        <p:blipFill>
          <a:blip r:embed="rId3"/>
          <a:srcRect l="-3072" r="-3072"/>
          <a:stretch/>
        </p:blipFill>
        <p:spPr>
          <a:xfrm>
            <a:off x="4724400" y="609600"/>
            <a:ext cx="6654800" cy="5435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50" dirty="0">
                <a:solidFill>
                  <a:srgbClr val="2E7D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TABLA DE HECHOS FACTVENTAS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6332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72A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Medidas calculadas en el ETL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81199"/>
          <a:ext cx="10556240" cy="2854960"/>
        </p:xfrm>
        <a:graphic>
          <a:graphicData uri="http://schemas.openxmlformats.org/drawingml/2006/table">
            <a:tbl>
              <a:tblPr/>
              <a:tblGrid>
                <a:gridCol w="2955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9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Medida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Cálculo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Tipo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Cantidad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detalle_ventas.cantidad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Aditiva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MontoBruto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Cantidad × PrecioUnitario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Aditiva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MontoDescuento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MontoBruto × % descuento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Aditiva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MontoTotal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Bruto − Descuento (IVA incluido)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Aditiva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MontoNeto / MontoIVA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 / 1,19 · Total − Neto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Aditiva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PrecioUnitario / Lista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Precio de venta y de catálogo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aditiva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PorcentajeDescuento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Descuento normalizado (0–1)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aditiva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A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Supuesto: precios con IVA 19 % incluido ·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58671"/>
            <a:ext cx="3924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50" dirty="0">
                <a:solidFill>
                  <a:srgbClr val="2E7D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ETL EN SSIS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485392"/>
            <a:ext cx="392430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72A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Flujo de control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3841" y="3110229"/>
            <a:ext cx="3845639" cy="151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959" indent="-182959" algn="l">
              <a:lnSpc>
                <a:spcPts val="1950"/>
              </a:lnSpc>
              <a:buSzPct val="100000"/>
              <a:buFontTx/>
              <a:buAutoNum type="arabicPeriod"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Preparar carga y miembros -1</a:t>
            </a:r>
            <a:endParaRPr lang="en-US" sz="1300" dirty="0"/>
          </a:p>
          <a:p>
            <a:pPr marL="182959" indent="-182959" algn="l">
              <a:lnSpc>
                <a:spcPts val="1950"/>
              </a:lnSpc>
              <a:buSzPct val="100000"/>
              <a:buFontTx/>
              <a:buAutoNum type="arabicPeriod"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Generar DimTiempo (730 días)</a:t>
            </a:r>
            <a:endParaRPr lang="en-US" sz="1300" dirty="0"/>
          </a:p>
          <a:p>
            <a:pPr marL="182959" indent="-182959" algn="l">
              <a:lnSpc>
                <a:spcPts val="1950"/>
              </a:lnSpc>
              <a:buSzPct val="100000"/>
              <a:buFontTx/>
              <a:buAutoNum type="arabicPeriod"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Cargar 5 dimensiones en paralelo</a:t>
            </a:r>
            <a:endParaRPr lang="en-US" sz="1300" dirty="0"/>
          </a:p>
          <a:p>
            <a:pPr marL="182959" indent="-182959" algn="l">
              <a:lnSpc>
                <a:spcPts val="1950"/>
              </a:lnSpc>
              <a:buSzPct val="100000"/>
              <a:buFontTx/>
              <a:buAutoNum type="arabicPeriod"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Cargar FactVentas</a:t>
            </a:r>
            <a:endParaRPr lang="en-US" sz="1300" dirty="0"/>
          </a:p>
          <a:p>
            <a:pPr marL="182959" indent="-182959" algn="l">
              <a:lnSpc>
                <a:spcPts val="1950"/>
              </a:lnSpc>
              <a:buSzPct val="100000"/>
              <a:buFontTx/>
              <a:buAutoNum type="arabicPeriod"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Validar: si no cuadra, el paquete falla</a:t>
            </a:r>
            <a:endParaRPr lang="en-US" sz="1300" dirty="0"/>
          </a:p>
          <a:p>
            <a:pPr marL="182959" indent="-182959" algn="l">
              <a:lnSpc>
                <a:spcPts val="1950"/>
              </a:lnSpc>
              <a:buSzPct val="100000"/>
              <a:buFontTx/>
              <a:buAutoNum type="arabicPeriod"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Registrar la ejecución en EtlLog</a:t>
            </a:r>
            <a:endParaRPr lang="en-US" sz="1300" dirty="0"/>
          </a:p>
        </p:txBody>
      </p:sp>
      <p:pic>
        <p:nvPicPr>
          <p:cNvPr id="5" name="Image 0" descr="Flujo de control del paquete ETL_Albarran.dtsx con tareas SQL, contenedor de dimensiones y data flow de hechos"/>
          <p:cNvPicPr>
            <a:picLocks noChangeAspect="1"/>
          </p:cNvPicPr>
          <p:nvPr/>
        </p:nvPicPr>
        <p:blipFill>
          <a:blip r:embed="rId3"/>
          <a:srcRect l="-32" r="-32"/>
          <a:stretch/>
        </p:blipFill>
        <p:spPr>
          <a:xfrm>
            <a:off x="4978400" y="1479550"/>
            <a:ext cx="6400800" cy="3695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005842"/>
            <a:ext cx="6906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50" dirty="0">
                <a:solidFill>
                  <a:srgbClr val="2E7D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ETL EN SSIS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432564"/>
            <a:ext cx="690676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72A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Data flow de FactVentas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057400"/>
            <a:ext cx="6705600" cy="802640"/>
          </a:xfrm>
          <a:prstGeom prst="roundRect">
            <a:avLst>
              <a:gd name="adj" fmla="val 9494"/>
            </a:avLst>
          </a:prstGeom>
          <a:solidFill>
            <a:srgbClr val="F7F6F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990600" y="2209800"/>
            <a:ext cx="654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7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Extraer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90600" y="2476500"/>
            <a:ext cx="65405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ventas ⋈ detalle_ventas ⋈ productos, con tipos explícitos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2800" y="2987042"/>
            <a:ext cx="6705600" cy="802640"/>
          </a:xfrm>
          <a:prstGeom prst="roundRect">
            <a:avLst>
              <a:gd name="adj" fmla="val 9494"/>
            </a:avLst>
          </a:prstGeom>
          <a:solidFill>
            <a:srgbClr val="F7F6F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990600" y="3139442"/>
            <a:ext cx="654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7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90600" y="3406142"/>
            <a:ext cx="65405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Conditional Split: fecha, cantidad o precio inválidos van a FactVentas_Rechazos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2800" y="3916679"/>
            <a:ext cx="6705600" cy="802640"/>
          </a:xfrm>
          <a:prstGeom prst="roundRect">
            <a:avLst>
              <a:gd name="adj" fmla="val 9494"/>
            </a:avLst>
          </a:prstGeom>
          <a:solidFill>
            <a:srgbClr val="F7F6F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990600" y="4069079"/>
            <a:ext cx="654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7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Buscar claves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90600" y="4335779"/>
            <a:ext cx="65405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Lookups con caché completa; sin coincidencia → clave -1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800" y="4846321"/>
            <a:ext cx="6705600" cy="802640"/>
          </a:xfrm>
          <a:prstGeom prst="roundRect">
            <a:avLst>
              <a:gd name="adj" fmla="val 9494"/>
            </a:avLst>
          </a:prstGeom>
          <a:solidFill>
            <a:srgbClr val="F7F6F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990600" y="4998721"/>
            <a:ext cx="654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7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Calcular y cargar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90600" y="5265421"/>
            <a:ext cx="65405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Derived Column de montos; Row Count; OLE DB Destination (fast load)</a:t>
            </a:r>
            <a:endParaRPr lang="en-US" sz="1300" dirty="0"/>
          </a:p>
        </p:txBody>
      </p:sp>
      <p:pic>
        <p:nvPicPr>
          <p:cNvPr id="16" name="Image 0" descr="Data flow de FactVentas: origen, conteo, división condicional, seis lookups, columna derivada y destino"/>
          <p:cNvPicPr>
            <a:picLocks noChangeAspect="1"/>
          </p:cNvPicPr>
          <p:nvPr/>
        </p:nvPicPr>
        <p:blipFill>
          <a:blip r:embed="rId3"/>
          <a:srcRect t="-4" b="-4"/>
          <a:stretch/>
        </p:blipFill>
        <p:spPr>
          <a:xfrm>
            <a:off x="7924800" y="609600"/>
            <a:ext cx="3454400" cy="5435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EF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50" dirty="0">
                <a:solidFill>
                  <a:srgbClr val="1F6B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TRANSFORMACIONES DE DIMENSIONES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6332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72A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Source → Derived Column → Destination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81202"/>
          <a:ext cx="10556240" cy="2498090"/>
        </p:xfrm>
        <a:graphic>
          <a:graphicData uri="http://schemas.openxmlformats.org/drawingml/2006/table">
            <a:tbl>
              <a:tblPr/>
              <a:tblGrid>
                <a:gridCol w="2533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227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Dimensión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1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1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D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Reglas aplicadas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AEB1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1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1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D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DimCliente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1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Nombre completo · M/F → Masculino/Femenino · Edad y rango etario · Estado civil capitalizado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1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DimEmpleado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Join con cargos · Nombre completo · Cargo capitalizado · Antigüedad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DimProducto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Join con categorías · NULL → "Sin descripción" · Rango de precio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DimSucursal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Join con comunas · Región derivada (Valparaíso / Metropolitana)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DimTipoDocumento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DISTINCT normalizado · Boleta/Factura · Persona natural/Empresa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DimTiempo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Calendario en español: semestre, trimestre, mes, semana, fin de semana, estación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B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Todas las cargas usan TRIM, ISNULL y CAST explícitos ·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50" dirty="0">
                <a:solidFill>
                  <a:srgbClr val="2E7D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VALIDACIÓN DE LA CARGA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6332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72A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Origen y destino cuadran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25017"/>
            <a:ext cx="2520950" cy="1456690"/>
          </a:xfrm>
          <a:prstGeom prst="roundRect">
            <a:avLst>
              <a:gd name="adj" fmla="val 5013"/>
            </a:avLst>
          </a:prstGeom>
          <a:solidFill>
            <a:srgbClr val="FFFFFF"/>
          </a:solidFill>
          <a:ln w="635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1046480" y="2255521"/>
            <a:ext cx="212173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E7D6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365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46480" y="2788921"/>
            <a:ext cx="212173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filas de hechos = 365 líneas de detalle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95675" y="2025017"/>
            <a:ext cx="2520950" cy="1456690"/>
          </a:xfrm>
          <a:prstGeom prst="roundRect">
            <a:avLst>
              <a:gd name="adj" fmla="val 5013"/>
            </a:avLst>
          </a:prstGeom>
          <a:solidFill>
            <a:srgbClr val="FFFFFF"/>
          </a:solidFill>
          <a:ln w="635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3726180" y="2255521"/>
            <a:ext cx="212173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E7D6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$414 MM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726180" y="2788921"/>
            <a:ext cx="212173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monto bruto idéntico al origen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5375" y="2025017"/>
            <a:ext cx="2520950" cy="1456690"/>
          </a:xfrm>
          <a:prstGeom prst="roundRect">
            <a:avLst>
              <a:gd name="adj" fmla="val 5013"/>
            </a:avLst>
          </a:prstGeom>
          <a:solidFill>
            <a:srgbClr val="FFFFFF"/>
          </a:solidFill>
          <a:ln w="635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6405880" y="2255521"/>
            <a:ext cx="212173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E7D6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405880" y="2788921"/>
            <a:ext cx="212173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filas rechazadas y hechos con clave -1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55075" y="2025017"/>
            <a:ext cx="2520950" cy="1456690"/>
          </a:xfrm>
          <a:prstGeom prst="roundRect">
            <a:avLst>
              <a:gd name="adj" fmla="val 5013"/>
            </a:avLst>
          </a:prstGeom>
          <a:solidFill>
            <a:srgbClr val="FFFFFF"/>
          </a:solidFill>
          <a:ln w="635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9085580" y="2255521"/>
            <a:ext cx="212173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E7D6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9085580" y="2788921"/>
            <a:ext cx="212173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diferencias fila a fila (EXCEPT)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3840479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Dimensiones: 20 clientes · 15 empleados · 20 productos · 3 sucursales · 2 tipos de documento · 730 días, cada una con su miembro desconocido. 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Script: database/scripts/02_validacion_etl.sql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A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Mueblería Albarrán · BI Fase 1 · 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50" dirty="0">
                <a:solidFill>
                  <a:srgbClr val="7FC4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PRIMEROS HALLAZGOS CON EL MODELO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6332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7F6F2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El modelo ya responde preguntas de negocio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25017"/>
            <a:ext cx="5175250" cy="1224280"/>
          </a:xfrm>
          <a:prstGeom prst="roundRect">
            <a:avLst>
              <a:gd name="adj" fmla="val 5965"/>
            </a:avLst>
          </a:prstGeom>
          <a:noFill/>
          <a:ln w="6350">
            <a:solidFill>
              <a:srgbClr val="3A52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1021080" y="2230121"/>
            <a:ext cx="4907991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7FC4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Estacionalidad marcada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21080" y="2565400"/>
            <a:ext cx="4907991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C9D6D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Julio fue el mejor mes ($48,3 MM) y noviembre el más bajo ($25,3 MM).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00775" y="2025017"/>
            <a:ext cx="5175250" cy="1224280"/>
          </a:xfrm>
          <a:prstGeom prst="roundRect">
            <a:avLst>
              <a:gd name="adj" fmla="val 5965"/>
            </a:avLst>
          </a:prstGeom>
          <a:noFill/>
          <a:ln w="6350">
            <a:solidFill>
              <a:srgbClr val="3A52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6405880" y="2230121"/>
            <a:ext cx="4907991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7FC4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Comedores manda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5880" y="2565400"/>
            <a:ext cx="4907991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C9D6D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28,8 % de las ventas; Buffets y Modulares no tienen productos en catálogo.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5975" y="3458846"/>
            <a:ext cx="5175250" cy="1224280"/>
          </a:xfrm>
          <a:prstGeom prst="roundRect">
            <a:avLst>
              <a:gd name="adj" fmla="val 5965"/>
            </a:avLst>
          </a:prstGeom>
          <a:noFill/>
          <a:ln w="6350">
            <a:solidFill>
              <a:srgbClr val="3A52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1021080" y="3663950"/>
            <a:ext cx="4907991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7FC4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Manquehue lidera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21080" y="3999229"/>
            <a:ext cx="4966970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C9D6D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36,1 % de participación y el mayor ticket promedio ($1,21 MM).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00775" y="3458846"/>
            <a:ext cx="5175250" cy="1224280"/>
          </a:xfrm>
          <a:prstGeom prst="roundRect">
            <a:avLst>
              <a:gd name="adj" fmla="val 5965"/>
            </a:avLst>
          </a:prstGeom>
          <a:noFill/>
          <a:ln w="6350">
            <a:solidFill>
              <a:srgbClr val="3A52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6405880" y="3663950"/>
            <a:ext cx="4907991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7FC4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Productividad dispar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5880" y="3999229"/>
            <a:ext cx="4907991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C9D6D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Romina Vasquez vende 25,2 veces su sueldo anual; Pamela Cortez, 15,8 veces.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2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Fuente: Albarran_DW, año 2017 · 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50" dirty="0">
                <a:solidFill>
                  <a:srgbClr val="2E7D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DEMOSTRACIÓN Y PRÓXIMOS PASOS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6332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72A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De la base transaccional al cubo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25017"/>
            <a:ext cx="5124450" cy="2192655"/>
          </a:xfrm>
          <a:prstGeom prst="roundRect">
            <a:avLst>
              <a:gd name="adj" fmla="val 4489"/>
            </a:avLst>
          </a:prstGeom>
          <a:solidFill>
            <a:srgbClr val="FFFFFF"/>
          </a:solidFill>
          <a:ln w="635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1071880" y="2280921"/>
            <a:ext cx="475101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 en vivo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2921" y="2682242"/>
            <a:ext cx="4672359" cy="1304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959" indent="-182959" algn="l">
              <a:lnSpc>
                <a:spcPts val="2015"/>
              </a:lnSpc>
              <a:buSzPct val="100000"/>
              <a:buFontTx/>
              <a:buAutoNum type="arabicPeriod"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Restaurar Albarran.bak (script 00)</a:t>
            </a:r>
            <a:endParaRPr lang="en-US" sz="1300" dirty="0"/>
          </a:p>
          <a:p>
            <a:pPr marL="182959" indent="-182959" algn="l">
              <a:lnSpc>
                <a:spcPts val="2015"/>
              </a:lnSpc>
              <a:buSzPct val="100000"/>
              <a:buFontTx/>
              <a:buAutoNum type="arabicPeriod"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Crear Albarran_DW (script 01)</a:t>
            </a:r>
            <a:endParaRPr lang="en-US" sz="1300" dirty="0"/>
          </a:p>
          <a:p>
            <a:pPr marL="182959" indent="-182959" algn="l">
              <a:lnSpc>
                <a:spcPts val="2015"/>
              </a:lnSpc>
              <a:buSzPct val="100000"/>
              <a:buFontTx/>
              <a:buAutoNum type="arabicPeriod"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Ejecutar ETL_Albarran.dtsx en Visual Studio</a:t>
            </a:r>
            <a:endParaRPr lang="en-US" sz="1300" dirty="0"/>
          </a:p>
          <a:p>
            <a:pPr marL="182959" indent="-182959" algn="l">
              <a:lnSpc>
                <a:spcPts val="2015"/>
              </a:lnSpc>
              <a:buSzPct val="100000"/>
              <a:buFontTx/>
              <a:buAutoNum type="arabicPeriod"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Validar la carga (script 02)</a:t>
            </a:r>
            <a:endParaRPr lang="en-US" sz="1300" dirty="0"/>
          </a:p>
          <a:p>
            <a:pPr marL="182959" indent="-182959" algn="l">
              <a:lnSpc>
                <a:spcPts val="2015"/>
              </a:lnSpc>
              <a:buSzPct val="100000"/>
              <a:buFontTx/>
              <a:buAutoNum type="arabicPeriod"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Generar Albarran_DW.bak (script 03)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51575" y="2025017"/>
            <a:ext cx="5124450" cy="2192655"/>
          </a:xfrm>
          <a:prstGeom prst="roundRect">
            <a:avLst>
              <a:gd name="adj" fmla="val 4489"/>
            </a:avLst>
          </a:prstGeom>
          <a:solidFill>
            <a:srgbClr val="FFFFFF"/>
          </a:solidFill>
          <a:ln w="635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6507480" y="2280921"/>
            <a:ext cx="475101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Fases siguientes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92824" y="2682242"/>
            <a:ext cx="4658055" cy="1304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8656" indent="-168656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Cubo OLAP en SSAS sobre FactVentas</a:t>
            </a:r>
            <a:endParaRPr lang="en-US" sz="1300" dirty="0"/>
          </a:p>
          <a:p>
            <a:pPr marL="168656" indent="-168656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Medidas: ticket, N° ventas, % participación</a:t>
            </a:r>
            <a:endParaRPr lang="en-US" sz="1300" dirty="0"/>
          </a:p>
          <a:p>
            <a:pPr marL="168656" indent="-168656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Dashboard de KPI en Power BI</a:t>
            </a:r>
            <a:endParaRPr lang="en-US" sz="1300" dirty="0"/>
          </a:p>
          <a:p>
            <a:pPr marL="168656" indent="-168656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Carga incremental y SCD tipo 2 en empleados</a:t>
            </a:r>
            <a:endParaRPr lang="en-US" sz="1300" dirty="0"/>
          </a:p>
          <a:p>
            <a:pPr marL="168656" indent="-168656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Incorporar costos para medir margen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A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Repositorio GitHub: [enlace del equipo] · 14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barrán BI – Fase 1">
  <a:themeElements>
    <a:clrScheme name="Albarrán BI – Fase 1">
      <a:dk1>
        <a:srgbClr val="172A3A"/>
      </a:dk1>
      <a:lt1>
        <a:srgbClr val="F7F6F2"/>
      </a:lt1>
      <a:dk2>
        <a:srgbClr val="4F5D68"/>
      </a:dk2>
      <a:lt2>
        <a:srgbClr val="E1E2E0"/>
      </a:lt2>
      <a:accent1>
        <a:srgbClr val="2E7D6B"/>
      </a:accent1>
      <a:accent2>
        <a:srgbClr val="7FC4B2"/>
      </a:accent2>
      <a:accent3>
        <a:srgbClr val="1F6B5A"/>
      </a:accent3>
      <a:accent4>
        <a:srgbClr val="4A5568"/>
      </a:accent4>
      <a:accent5>
        <a:srgbClr val="6B7A86"/>
      </a:accent5>
      <a:accent6>
        <a:srgbClr val="C9D6DE"/>
      </a:accent6>
      <a:hlink>
        <a:srgbClr val="0563C1"/>
      </a:hlink>
      <a:folHlink>
        <a:srgbClr val="954F72"/>
      </a:folHlink>
    </a:clrScheme>
    <a:fontScheme name="Albarrán BI – Fase 1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640</TotalTime>
  <Words>1643</Words>
  <Application>Microsoft Office PowerPoint</Application>
  <PresentationFormat>Widescreen</PresentationFormat>
  <Paragraphs>248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IBM Plex Sans</vt:lpstr>
      <vt:lpstr>Source Serif 4</vt:lpstr>
      <vt:lpstr>Albarrán BI – Fase 1</vt:lpstr>
      <vt:lpstr>Mueblería Albarrán</vt:lpstr>
      <vt:lpstr>Una mueblería que creció rápido y necesita decidir con datos</vt:lpstr>
      <vt:lpstr>9 tablas, un año de ventas</vt:lpstr>
      <vt:lpstr>Datos íntegros, pero poco legibles para el análisis</vt:lpstr>
      <vt:lpstr>10 KPI para decidir sobre ventas, locales y equipo</vt:lpstr>
      <vt:lpstr>Cuatro decisiones definen el modelo</vt:lpstr>
      <vt:lpstr>Esquema estrella</vt:lpstr>
      <vt:lpstr>Medidas calculadas en el ETL</vt:lpstr>
      <vt:lpstr>Flujo de control</vt:lpstr>
      <vt:lpstr>Data flow de FactVentas</vt:lpstr>
      <vt:lpstr>Source → Derived Column → Destination</vt:lpstr>
      <vt:lpstr>Origen y destino cuadran</vt:lpstr>
      <vt:lpstr>El modelo ya responde preguntas de negocio</vt:lpstr>
      <vt:lpstr>De la base transaccional al cubo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Albarrán BI – Fase 1</dc:title>
  <dc:subject/>
  <dc:creator/>
  <cp:lastModifiedBy>Ivan Papic Fuentealba (Alumno)</cp:lastModifiedBy>
  <cp:revision>4</cp:revision>
  <dcterms:created xsi:type="dcterms:W3CDTF">2026-10-13T17:01:36Z</dcterms:created>
  <dcterms:modified xsi:type="dcterms:W3CDTF">2026-10-14T03:50:21Z</dcterms:modified>
</cp:coreProperties>
</file>